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kWh</c:v>
                </c:pt>
              </c:strCache>
            </c:strRef>
          </c:tx>
          <c:spPr>
            <a:solidFill>
              <a:srgbClr val="2F9E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6a</c:v>
                  </c:pt>
                  <c:pt idx="1">
                    <c:v>7a</c:v>
                  </c:pt>
                  <c:pt idx="2">
                    <c:v>8a</c:v>
                  </c:pt>
                  <c:pt idx="3">
                    <c:v>9a</c:v>
                  </c:pt>
                  <c:pt idx="4">
                    <c:v>10a</c:v>
                  </c:pt>
                  <c:pt idx="5">
                    <c:v>11a</c:v>
                  </c:pt>
                  <c:pt idx="6">
                    <c:v>12p</c:v>
                  </c:pt>
                  <c:pt idx="7">
                    <c:v>1p</c:v>
                  </c:pt>
                  <c:pt idx="8">
                    <c:v>2p</c:v>
                  </c:pt>
                  <c:pt idx="9">
                    <c:v>3p</c:v>
                  </c:pt>
                  <c:pt idx="10">
                    <c:v>4p</c:v>
                  </c:pt>
                  <c:pt idx="11">
                    <c:v>5p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</c:v>
                </c:pt>
                <c:pt idx="1">
                  <c:v>52</c:v>
                </c:pt>
                <c:pt idx="2">
                  <c:v>66</c:v>
                </c:pt>
                <c:pt idx="3">
                  <c:v>80</c:v>
                </c:pt>
                <c:pt idx="4">
                  <c:v>96</c:v>
                </c:pt>
                <c:pt idx="5">
                  <c:v>88</c:v>
                </c:pt>
                <c:pt idx="6">
                  <c:v>60</c:v>
                </c:pt>
                <c:pt idx="7">
                  <c:v>68</c:v>
                </c:pt>
                <c:pt idx="8">
                  <c:v>92</c:v>
                </c:pt>
                <c:pt idx="9">
                  <c:v>100</c:v>
                </c:pt>
                <c:pt idx="10">
                  <c:v>84</c:v>
                </c:pt>
                <c:pt idx="11">
                  <c:v>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5A3E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C2A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0"/>
            <a:ext cx="5653735" cy="6858000"/>
          </a:xfrm>
          <a:prstGeom prst="rect">
            <a:avLst/>
          </a:prstGeom>
          <a:solidFill>
            <a:srgbClr val="DCEDE1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"/>
            <a:ext cx="960120" cy="960120"/>
          </a:xfrm>
          <a:prstGeom prst="ellipse">
            <a:avLst/>
          </a:prstGeom>
          <a:solidFill>
            <a:srgbClr val="E8A63D"/>
          </a:solidFill>
          <a:ln/>
        </p:spPr>
      </p:sp>
      <p:pic>
        <p:nvPicPr>
          <p:cNvPr id="4" name="Image 0" descr="/home/claude/work/icons/campus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4406265"/>
            <a:ext cx="5029200" cy="19488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0292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2F9E5B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5029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PROJECT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GridSense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2212848"/>
            <a:ext cx="5852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D9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Energy Management</a:t>
            </a:r>
            <a:endParaRPr lang="en-US" sz="2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D9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Green Campuses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48640" y="342900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demand  •  Use solar first  •  Store surplus  •  Shave peak costs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16052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123524"/>
          </a:solidFill>
          <a:ln w="12700">
            <a:solidFill>
              <a:srgbClr val="2F9E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16052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E8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POWER   •   LOWER COST   •   CLEANER CAMPUS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51663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fusion of IoT + forecasting + optimization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 •  SMART ENERGY MANAGEMENT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• WHY GRIDSENSE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energy is not used intelligently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566928" cy="566928"/>
          </a:xfrm>
          <a:prstGeom prst="ellipse">
            <a:avLst/>
          </a:prstGeom>
          <a:solidFill>
            <a:srgbClr val="35618F"/>
          </a:solidFill>
          <a:ln/>
        </p:spPr>
      </p:sp>
      <p:pic>
        <p:nvPicPr>
          <p:cNvPr id="6" name="Image 0" descr="/home/claude/work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11903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1576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Unpredictable solar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 and weather change how much power panels generate.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46704" y="1691640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02736" y="1965960"/>
            <a:ext cx="566928" cy="566928"/>
          </a:xfrm>
          <a:prstGeom prst="ellipse">
            <a:avLst/>
          </a:prstGeom>
          <a:solidFill>
            <a:srgbClr val="E8A63D"/>
          </a:solidFill>
          <a:ln/>
        </p:spPr>
      </p:sp>
      <p:pic>
        <p:nvPicPr>
          <p:cNvPr id="11" name="Image 1" descr="/home/claude/work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807" y="211903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271576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demand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575304" y="3200400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spikes make grid power expensive to draw 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44768" y="1691640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965960"/>
            <a:ext cx="566928" cy="566928"/>
          </a:xfrm>
          <a:prstGeom prst="ellipse">
            <a:avLst/>
          </a:prstGeom>
          <a:solidFill>
            <a:srgbClr val="2F9E5B"/>
          </a:solidFill>
          <a:ln/>
        </p:spPr>
      </p:sp>
      <p:pic>
        <p:nvPicPr>
          <p:cNvPr id="16" name="Image 2" descr="/home/claude/work/icons/batte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871" y="2119031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3368" y="271576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Wasted surplus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373368" y="3200400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solar can go unused when there is nowhere to store it.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42832" y="1691640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98864" y="1965960"/>
            <a:ext cx="566928" cy="566928"/>
          </a:xfrm>
          <a:prstGeom prst="ellipse">
            <a:avLst/>
          </a:prstGeom>
          <a:solidFill>
            <a:srgbClr val="1B4B34"/>
          </a:solidFill>
          <a:ln/>
        </p:spPr>
      </p:sp>
      <p:pic>
        <p:nvPicPr>
          <p:cNvPr id="21" name="Image 3" descr="/home/claude/work/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935" y="2119031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71432" y="271576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brain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171432" y="3200400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Meters, weather, and batteries often act separately.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34340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1B4B34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GridSense turns fragmented energy data into one clear decision loop.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E8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pPr algn="ctr" indent="0" marL="0">
              <a:buNone/>
            </a:pPr>
            <a:r>
              <a:rPr lang="en-US" sz="1500" spc="100" kern="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algn="ctr" indent="0" marL="0">
              <a:buNone/>
            </a:pPr>
            <a:r>
              <a:rPr lang="en-US" sz="1500" b="1" spc="100" kern="0" dirty="0">
                <a:solidFill>
                  <a:srgbClr val="E8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pPr algn="ctr" indent="0" marL="0">
              <a:buNone/>
            </a:pPr>
            <a:r>
              <a:rPr lang="en-US" sz="1500" spc="100" kern="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algn="ctr" indent="0" marL="0">
              <a:buNone/>
            </a:pPr>
            <a:r>
              <a:rPr lang="en-US" sz="1500" b="1" spc="100" kern="0" dirty="0">
                <a:solidFill>
                  <a:srgbClr val="E8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pPr algn="ctr" indent="0" marL="0">
              <a:buNone/>
            </a:pPr>
            <a:r>
              <a:rPr lang="en-US" sz="1500" spc="100" kern="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algn="ctr" indent="0" marL="0">
              <a:buNone/>
            </a:pPr>
            <a:r>
              <a:rPr lang="en-US" sz="1500" b="1" spc="100" kern="0" dirty="0">
                <a:solidFill>
                  <a:srgbClr val="E8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 •  SMART ENERGY MANAGEMENT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•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GridSense works — one decision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75104" cy="2514600"/>
          </a:xfrm>
          <a:prstGeom prst="roundRect">
            <a:avLst>
              <a:gd name="adj" fmla="val 4630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2728" y="2075688"/>
            <a:ext cx="566928" cy="566928"/>
          </a:xfrm>
          <a:prstGeom prst="ellipse">
            <a:avLst/>
          </a:prstGeom>
          <a:solidFill>
            <a:srgbClr val="35618F"/>
          </a:solidFill>
          <a:ln/>
        </p:spPr>
      </p:sp>
      <p:pic>
        <p:nvPicPr>
          <p:cNvPr id="6" name="Image 0" descr="/home/claude/work/icons/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799" y="2228759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072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246120"/>
            <a:ext cx="17007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meters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status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05456" y="2286000"/>
            <a:ext cx="219456" cy="0"/>
          </a:xfrm>
          <a:prstGeom prst="line">
            <a:avLst/>
          </a:prstGeom>
          <a:noFill/>
          <a:ln w="28575">
            <a:solidFill>
              <a:srgbClr val="2F9E5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706624" y="1783080"/>
            <a:ext cx="1975104" cy="2514600"/>
          </a:xfrm>
          <a:prstGeom prst="roundRect">
            <a:avLst>
              <a:gd name="adj" fmla="val 4630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0712" y="2075688"/>
            <a:ext cx="566928" cy="566928"/>
          </a:xfrm>
          <a:prstGeom prst="ellipse">
            <a:avLst/>
          </a:prstGeom>
          <a:solidFill>
            <a:srgbClr val="2F9E5B"/>
          </a:solidFill>
          <a:ln/>
        </p:spPr>
      </p:sp>
      <p:pic>
        <p:nvPicPr>
          <p:cNvPr id="12" name="Image 1" descr="/home/claude/work/icons/su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783" y="2228759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98064" y="28072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43784" y="3246120"/>
            <a:ext cx="17007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forecast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12–24h horizon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663440" y="2286000"/>
            <a:ext cx="219456" cy="0"/>
          </a:xfrm>
          <a:prstGeom prst="line">
            <a:avLst/>
          </a:prstGeom>
          <a:noFill/>
          <a:ln w="28575">
            <a:solidFill>
              <a:srgbClr val="2F9E5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864608" y="1783080"/>
            <a:ext cx="1975104" cy="2514600"/>
          </a:xfrm>
          <a:prstGeom prst="roundRect">
            <a:avLst>
              <a:gd name="adj" fmla="val 4630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568696" y="2075688"/>
            <a:ext cx="566928" cy="566928"/>
          </a:xfrm>
          <a:prstGeom prst="ellipse">
            <a:avLst/>
          </a:prstGeom>
          <a:solidFill>
            <a:srgbClr val="1B4B34"/>
          </a:solidFill>
          <a:ln/>
        </p:spPr>
      </p:sp>
      <p:pic>
        <p:nvPicPr>
          <p:cNvPr id="18" name="Image 2" descr="/home/claude/work/icons/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767" y="2228759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56048" y="28072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001768" y="3246120"/>
            <a:ext cx="17007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lowest-cost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821424" y="2286000"/>
            <a:ext cx="219456" cy="0"/>
          </a:xfrm>
          <a:prstGeom prst="line">
            <a:avLst/>
          </a:prstGeom>
          <a:noFill/>
          <a:ln w="28575">
            <a:solidFill>
              <a:srgbClr val="2F9E5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022592" y="1783080"/>
            <a:ext cx="1975104" cy="2514600"/>
          </a:xfrm>
          <a:prstGeom prst="roundRect">
            <a:avLst>
              <a:gd name="adj" fmla="val 4630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26680" y="2075688"/>
            <a:ext cx="566928" cy="566928"/>
          </a:xfrm>
          <a:prstGeom prst="ellipse">
            <a:avLst/>
          </a:prstGeom>
          <a:solidFill>
            <a:srgbClr val="E8A63D"/>
          </a:solidFill>
          <a:ln/>
        </p:spPr>
      </p:sp>
      <p:pic>
        <p:nvPicPr>
          <p:cNvPr id="24" name="Image 3" descr="/home/claude/work/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751" y="2228759"/>
            <a:ext cx="260787" cy="2607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14032" y="28072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159752" y="3246120"/>
            <a:ext cx="17007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/ Battery /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control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8979408" y="2286000"/>
            <a:ext cx="219456" cy="0"/>
          </a:xfrm>
          <a:prstGeom prst="line">
            <a:avLst/>
          </a:prstGeom>
          <a:noFill/>
          <a:ln w="28575">
            <a:solidFill>
              <a:srgbClr val="2F9E5B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180576" y="1783080"/>
            <a:ext cx="1975104" cy="2514600"/>
          </a:xfrm>
          <a:prstGeom prst="roundRect">
            <a:avLst>
              <a:gd name="adj" fmla="val 4630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884664" y="2075688"/>
            <a:ext cx="566928" cy="566928"/>
          </a:xfrm>
          <a:prstGeom prst="ellipse">
            <a:avLst/>
          </a:prstGeom>
          <a:solidFill>
            <a:srgbClr val="35618F"/>
          </a:solidFill>
          <a:ln/>
        </p:spPr>
      </p:sp>
      <p:pic>
        <p:nvPicPr>
          <p:cNvPr id="30" name="Image 4" descr="/home/claude/work/icons/bar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7735" y="2228759"/>
            <a:ext cx="260787" cy="26078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272016" y="28072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317736" y="3246120"/>
            <a:ext cx="17007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• CO₂ •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share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48640" y="4892040"/>
            <a:ext cx="10607040" cy="777240"/>
          </a:xfrm>
          <a:prstGeom prst="roundRect">
            <a:avLst>
              <a:gd name="adj" fmla="val 11765"/>
            </a:avLst>
          </a:prstGeom>
          <a:solidFill>
            <a:srgbClr val="0F2A1C"/>
          </a:solidFill>
          <a:ln/>
        </p:spPr>
      </p:sp>
      <p:sp>
        <p:nvSpPr>
          <p:cNvPr id="34" name="Text 27"/>
          <p:cNvSpPr/>
          <p:nvPr/>
        </p:nvSpPr>
        <p:spPr>
          <a:xfrm>
            <a:off x="548640" y="4892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use the cleanest available energy at the lowest practical cost.</a:t>
            </a:r>
            <a:endParaRPr lang="en-US" sz="1650" dirty="0"/>
          </a:p>
        </p:txBody>
      </p:sp>
      <p:sp>
        <p:nvSpPr>
          <p:cNvPr id="35" name="Text 28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 •  SMART ENERGY MANAGEMENT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• FORECASTING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engine: know supply and demand before the spike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2F9E5B"/>
          </a:solidFill>
          <a:ln/>
        </p:spPr>
      </p:sp>
      <p:pic>
        <p:nvPicPr>
          <p:cNvPr id="5" name="Image 0" descr="/home/claude/work/icons/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7922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FORECAST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Weather: cloud cover, sunlight, temperature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PV generation for the next 12–24 hours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35618F"/>
          </a:solidFill>
          <a:ln/>
        </p:spPr>
      </p:sp>
      <p:pic>
        <p:nvPicPr>
          <p:cNvPr id="9" name="Image 1" descr="/home/claude/work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48386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397764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historical campus load patterns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class-time, hostel, lab &amp; weekend behaviour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269480" y="1691640"/>
            <a:ext cx="4663440" cy="1807083"/>
          </a:xfrm>
          <a:prstGeom prst="roundRect">
            <a:avLst>
              <a:gd name="adj" fmla="val 4048"/>
            </a:avLst>
          </a:prstGeom>
          <a:solidFill>
            <a:srgbClr val="E8F3EC"/>
          </a:solidFill>
          <a:ln/>
        </p:spPr>
      </p:sp>
      <p:pic>
        <p:nvPicPr>
          <p:cNvPr id="13" name="Image 2" descr="/home/claude/work/icons/campus_cropp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691640"/>
            <a:ext cx="4663440" cy="1807083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269480" y="3773043"/>
            <a:ext cx="4663440" cy="1234440"/>
          </a:xfrm>
          <a:prstGeom prst="roundRect">
            <a:avLst>
              <a:gd name="adj" fmla="val 7407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498080" y="3955923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OUTPUT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498080" y="4275963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Solar  +  Expected Load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 •  SMART ENERGY MANAGEMENT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• ENERGY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core: three simple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8728" cy="2788920"/>
          </a:xfrm>
          <a:prstGeom prst="roundRect">
            <a:avLst>
              <a:gd name="adj" fmla="val 3279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38728" y="1965960"/>
            <a:ext cx="384048" cy="384048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6" name="Text 4"/>
          <p:cNvSpPr/>
          <p:nvPr/>
        </p:nvSpPr>
        <p:spPr>
          <a:xfrm>
            <a:off x="3538728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2F9E5B"/>
          </a:solidFill>
          <a:ln/>
        </p:spPr>
      </p:sp>
      <p:pic>
        <p:nvPicPr>
          <p:cNvPr id="8" name="Image 0" descr="/home/claude/work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159813"/>
            <a:ext cx="252374" cy="252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78892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→ Campus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2990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solar is available and demand is high, serve buildings directly.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52544" y="1737360"/>
            <a:ext cx="3538728" cy="2788920"/>
          </a:xfrm>
          <a:prstGeom prst="roundRect">
            <a:avLst>
              <a:gd name="adj" fmla="val 3279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42632" y="1965960"/>
            <a:ext cx="384048" cy="384048"/>
          </a:xfrm>
          <a:prstGeom prst="ellipse">
            <a:avLst/>
          </a:prstGeom>
          <a:solidFill>
            <a:srgbClr val="E8A63D"/>
          </a:solidFill>
          <a:ln/>
        </p:spPr>
      </p:sp>
      <p:sp>
        <p:nvSpPr>
          <p:cNvPr id="13" name="Text 10"/>
          <p:cNvSpPr/>
          <p:nvPr/>
        </p:nvSpPr>
        <p:spPr>
          <a:xfrm>
            <a:off x="7342632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626864" y="2011680"/>
            <a:ext cx="548640" cy="548640"/>
          </a:xfrm>
          <a:prstGeom prst="ellipse">
            <a:avLst/>
          </a:prstGeom>
          <a:solidFill>
            <a:srgbClr val="E8A63D"/>
          </a:solidFill>
          <a:ln/>
        </p:spPr>
      </p:sp>
      <p:pic>
        <p:nvPicPr>
          <p:cNvPr id="15" name="Image 1" descr="/home/claude/work/icons/batt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997" y="2159813"/>
            <a:ext cx="252374" cy="2523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26864" y="278892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→ Battery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4626864" y="3383280"/>
            <a:ext cx="2990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solar generation exceeds demand, store the surplus.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56448" y="1737360"/>
            <a:ext cx="3538728" cy="2788920"/>
          </a:xfrm>
          <a:prstGeom prst="roundRect">
            <a:avLst>
              <a:gd name="adj" fmla="val 3279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1146536" y="1965960"/>
            <a:ext cx="384048" cy="384048"/>
          </a:xfrm>
          <a:prstGeom prst="ellipse">
            <a:avLst/>
          </a:prstGeom>
          <a:solidFill>
            <a:srgbClr val="35618F"/>
          </a:solidFill>
          <a:ln/>
        </p:spPr>
      </p:sp>
      <p:sp>
        <p:nvSpPr>
          <p:cNvPr id="20" name="Text 16"/>
          <p:cNvSpPr/>
          <p:nvPr/>
        </p:nvSpPr>
        <p:spPr>
          <a:xfrm>
            <a:off x="11146536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8430768" y="2011680"/>
            <a:ext cx="548640" cy="548640"/>
          </a:xfrm>
          <a:prstGeom prst="ellipse">
            <a:avLst/>
          </a:prstGeom>
          <a:solidFill>
            <a:srgbClr val="35618F"/>
          </a:solidFill>
          <a:ln/>
        </p:spPr>
      </p:sp>
      <p:pic>
        <p:nvPicPr>
          <p:cNvPr id="22" name="Image 2" descr="/home/claude/work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1" y="2159813"/>
            <a:ext cx="252374" cy="2523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30768" y="278892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→ Campus / Battery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8430768" y="3383280"/>
            <a:ext cx="2990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solar is low, use grid power strategically and avoid expensive peak periods.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548640" y="49377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6F2EA"/>
          </a:solidFill>
          <a:ln/>
        </p:spPr>
      </p:sp>
      <p:sp>
        <p:nvSpPr>
          <p:cNvPr id="26" name="Text 21"/>
          <p:cNvSpPr/>
          <p:nvPr/>
        </p:nvSpPr>
        <p:spPr>
          <a:xfrm>
            <a:off x="548640" y="493776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shaving = shift flexible energy use away from expensive grid hours.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 •  SMART ENERGY MANAGEMENT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•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show the impact in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709160"/>
          </a:xfrm>
          <a:prstGeom prst="roundRect">
            <a:avLst>
              <a:gd name="adj" fmla="val 1942"/>
            </a:avLst>
          </a:prstGeom>
          <a:solidFill>
            <a:srgbClr val="12352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10451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GRIDSENSE  •  LIVE ENERGY DASHBOARD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0F2A1C"/>
          </a:solidFill>
          <a:ln w="12700">
            <a:solidFill>
              <a:srgbClr val="2A5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496312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1560" y="277977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538728" y="2377440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0F2A1C"/>
          </a:solidFill>
          <a:ln w="12700">
            <a:solidFill>
              <a:srgbClr val="2A5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2496312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LOAD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21608" y="277977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21%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208776" y="2377440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0F2A1C"/>
          </a:solidFill>
          <a:ln w="12700">
            <a:solidFill>
              <a:srgbClr val="2A5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2496312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91656" y="277977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18.4k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878824" y="2377440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0F2A1C"/>
          </a:solidFill>
          <a:ln w="12700">
            <a:solidFill>
              <a:srgbClr val="2A5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61704" y="2496312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AVOIDED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061704" y="277977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kg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68680" y="3493008"/>
            <a:ext cx="7223760" cy="2514600"/>
          </a:xfrm>
          <a:prstGeom prst="roundRect">
            <a:avLst>
              <a:gd name="adj" fmla="val 2909"/>
            </a:avLst>
          </a:prstGeom>
          <a:solidFill>
            <a:srgbClr val="0F2A1C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6576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flow — today</a:t>
            </a:r>
            <a:endParaRPr lang="en-US" sz="1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1051560" y="4087368"/>
          <a:ext cx="68580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8275320" y="3493008"/>
            <a:ext cx="3044952" cy="2514600"/>
          </a:xfrm>
          <a:prstGeom prst="roundRect">
            <a:avLst>
              <a:gd name="adj" fmla="val 2909"/>
            </a:avLst>
          </a:prstGeom>
          <a:solidFill>
            <a:srgbClr val="0F2A1C"/>
          </a:solidFill>
          <a:ln/>
        </p:spPr>
      </p:sp>
      <p:sp>
        <p:nvSpPr>
          <p:cNvPr id="22" name="Text 19"/>
          <p:cNvSpPr/>
          <p:nvPr/>
        </p:nvSpPr>
        <p:spPr>
          <a:xfrm>
            <a:off x="8503920" y="365760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503920" y="4206240"/>
            <a:ext cx="164592" cy="164592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24" name="Text 21"/>
          <p:cNvSpPr/>
          <p:nvPr/>
        </p:nvSpPr>
        <p:spPr>
          <a:xfrm>
            <a:off x="8778240" y="4096512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→ Campus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778240" y="4352544"/>
            <a:ext cx="2313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FA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503920" y="4828032"/>
            <a:ext cx="164592" cy="164592"/>
          </a:xfrm>
          <a:prstGeom prst="ellipse">
            <a:avLst/>
          </a:prstGeom>
          <a:solidFill>
            <a:srgbClr val="E8A63D"/>
          </a:solidFill>
          <a:ln/>
        </p:spPr>
      </p:sp>
      <p:sp>
        <p:nvSpPr>
          <p:cNvPr id="27" name="Text 24"/>
          <p:cNvSpPr/>
          <p:nvPr/>
        </p:nvSpPr>
        <p:spPr>
          <a:xfrm>
            <a:off x="8778240" y="4718304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778240" y="4974336"/>
            <a:ext cx="2313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FA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503920" y="5449824"/>
            <a:ext cx="164592" cy="164592"/>
          </a:xfrm>
          <a:prstGeom prst="ellipse">
            <a:avLst/>
          </a:prstGeom>
          <a:solidFill>
            <a:srgbClr val="35618F"/>
          </a:solidFill>
          <a:ln/>
        </p:spPr>
      </p:sp>
      <p:sp>
        <p:nvSpPr>
          <p:cNvPr id="30" name="Text 27"/>
          <p:cNvSpPr/>
          <p:nvPr/>
        </p:nvSpPr>
        <p:spPr>
          <a:xfrm>
            <a:off x="8778240" y="53400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8778240" y="5596128"/>
            <a:ext cx="2313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FA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 •  SMART ENERGY MANAGEMENT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•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792224"/>
            <a:ext cx="457200" cy="457200"/>
          </a:xfrm>
          <a:prstGeom prst="ellipse">
            <a:avLst/>
          </a:prstGeom>
          <a:solidFill>
            <a:srgbClr val="35618F"/>
          </a:solidFill>
          <a:ln/>
        </p:spPr>
      </p:sp>
      <p:pic>
        <p:nvPicPr>
          <p:cNvPr id="6" name="Image 0" descr="/home/claude/work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915668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916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IoT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154680" y="1691640"/>
            <a:ext cx="8257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meters  •  current/voltage sensors  •  battery telemetry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45973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4944" y="2560320"/>
            <a:ext cx="457200" cy="457200"/>
          </a:xfrm>
          <a:prstGeom prst="ellipse">
            <a:avLst/>
          </a:prstGeom>
          <a:solidFill>
            <a:srgbClr val="2F9E5B"/>
          </a:solidFill>
          <a:ln/>
        </p:spPr>
      </p:sp>
      <p:pic>
        <p:nvPicPr>
          <p:cNvPr id="11" name="Image 1" descr="/home/claude/work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268376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45973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154680" y="2459736"/>
            <a:ext cx="8257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load  •  weather API  •  real-time readings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22783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4944" y="3328416"/>
            <a:ext cx="457200" cy="457200"/>
          </a:xfrm>
          <a:prstGeom prst="ellipse">
            <a:avLst/>
          </a:prstGeom>
          <a:solidFill>
            <a:srgbClr val="1B4B34"/>
          </a:solidFill>
          <a:ln/>
        </p:spPr>
      </p:sp>
      <p:pic>
        <p:nvPicPr>
          <p:cNvPr id="16" name="Image 2" descr="/home/claude/work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3451860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22783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154680" y="3227832"/>
            <a:ext cx="8257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model  •  optimization engine  •  peak-shaving rules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5928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4944" y="4096512"/>
            <a:ext cx="457200" cy="457200"/>
          </a:xfrm>
          <a:prstGeom prst="ellipse">
            <a:avLst/>
          </a:prstGeom>
          <a:solidFill>
            <a:srgbClr val="E8A63D"/>
          </a:solidFill>
          <a:ln/>
        </p:spPr>
      </p:sp>
      <p:pic>
        <p:nvPicPr>
          <p:cNvPr id="21" name="Image 3" descr="/home/claude/work/icons/slid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" y="4219956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99592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3154680" y="3995928"/>
            <a:ext cx="8257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/ gateway  •  building &amp; battery commands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4764024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94944" y="4864608"/>
            <a:ext cx="457200" cy="457200"/>
          </a:xfrm>
          <a:prstGeom prst="ellipse">
            <a:avLst/>
          </a:prstGeom>
          <a:solidFill>
            <a:srgbClr val="35618F"/>
          </a:solidFill>
          <a:ln/>
        </p:spPr>
      </p:sp>
      <p:pic>
        <p:nvPicPr>
          <p:cNvPr id="26" name="Image 4" descr="/home/claude/work/icons/moni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" y="4988052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76402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154680" y="4764024"/>
            <a:ext cx="8257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 •  alerts  •  KPI tracking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548640" y="560527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C/C++ control logic runs close to the hardware; ML forecasting runs at the edge or in the cloud.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 •  SMART ENERGY MANAGEMENT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•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GridSense can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5396"/>
            <a:ext cx="566928" cy="566928"/>
          </a:xfrm>
          <a:prstGeom prst="ellipse">
            <a:avLst/>
          </a:prstGeom>
          <a:solidFill>
            <a:srgbClr val="2F9E5B"/>
          </a:solidFill>
          <a:ln/>
        </p:spPr>
      </p:sp>
      <p:pic>
        <p:nvPicPr>
          <p:cNvPr id="6" name="Image 0" descr="/home/claude/work/icons/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2178467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cost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08760" y="2258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shaving plus better battery timing.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6916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73952" y="2025396"/>
            <a:ext cx="566928" cy="566928"/>
          </a:xfrm>
          <a:prstGeom prst="ellipse">
            <a:avLst/>
          </a:prstGeom>
          <a:solidFill>
            <a:srgbClr val="2F9E5B"/>
          </a:solidFill>
          <a:ln/>
        </p:spPr>
      </p:sp>
      <p:pic>
        <p:nvPicPr>
          <p:cNvPr id="11" name="Image 1" descr="/home/claude/work/icons/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023" y="2178467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874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carbon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05472" y="2258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prioritized over grid power.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182112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515868"/>
            <a:ext cx="566928" cy="566928"/>
          </a:xfrm>
          <a:prstGeom prst="ellipse">
            <a:avLst/>
          </a:prstGeom>
          <a:solidFill>
            <a:srgbClr val="35618F"/>
          </a:solidFill>
          <a:ln/>
        </p:spPr>
      </p:sp>
      <p:pic>
        <p:nvPicPr>
          <p:cNvPr id="16" name="Image 2" descr="/home/claude/wor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11" y="3668939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3649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reliability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508760" y="3749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plus storage improves resilience.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45352" y="3182112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AFBF9"/>
          </a:solidFill>
          <a:ln w="12700">
            <a:solidFill>
              <a:srgbClr val="DCE6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73952" y="3515868"/>
            <a:ext cx="566928" cy="566928"/>
          </a:xfrm>
          <a:prstGeom prst="ellipse">
            <a:avLst/>
          </a:prstGeom>
          <a:solidFill>
            <a:srgbClr val="35618F"/>
          </a:solidFill>
          <a:ln/>
        </p:spPr>
      </p:sp>
      <p:pic>
        <p:nvPicPr>
          <p:cNvPr id="21" name="Image 3" descr="/home/claude/work/icons/trend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023" y="3668939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05472" y="33649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to scale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05472" y="3749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architecture for buildings through campuses.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48097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5175504"/>
            <a:ext cx="365760" cy="365760"/>
          </a:xfrm>
          <a:prstGeom prst="ellipse">
            <a:avLst/>
          </a:prstGeom>
          <a:solidFill>
            <a:srgbClr val="E8A63D"/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5175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024128" y="5129784"/>
            <a:ext cx="209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live meters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3378708" y="5175504"/>
            <a:ext cx="365760" cy="365760"/>
          </a:xfrm>
          <a:prstGeom prst="ellipse">
            <a:avLst/>
          </a:prstGeom>
          <a:solidFill>
            <a:srgbClr val="E8A63D"/>
          </a:solidFill>
          <a:ln/>
        </p:spPr>
      </p:sp>
      <p:sp>
        <p:nvSpPr>
          <p:cNvPr id="29" name="Text 23"/>
          <p:cNvSpPr/>
          <p:nvPr/>
        </p:nvSpPr>
        <p:spPr>
          <a:xfrm>
            <a:off x="3378708" y="5175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3854196" y="5129784"/>
            <a:ext cx="209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forecast model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6208776" y="5175504"/>
            <a:ext cx="365760" cy="365760"/>
          </a:xfrm>
          <a:prstGeom prst="ellipse">
            <a:avLst/>
          </a:prstGeom>
          <a:solidFill>
            <a:srgbClr val="E8A63D"/>
          </a:solidFill>
          <a:ln/>
        </p:spPr>
      </p:sp>
      <p:sp>
        <p:nvSpPr>
          <p:cNvPr id="32" name="Text 26"/>
          <p:cNvSpPr/>
          <p:nvPr/>
        </p:nvSpPr>
        <p:spPr>
          <a:xfrm>
            <a:off x="6208776" y="5175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684264" y="5129784"/>
            <a:ext cx="209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battery rules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9038844" y="5175504"/>
            <a:ext cx="365760" cy="365760"/>
          </a:xfrm>
          <a:prstGeom prst="ellipse">
            <a:avLst/>
          </a:prstGeom>
          <a:solidFill>
            <a:srgbClr val="E8A63D"/>
          </a:solidFill>
          <a:ln/>
        </p:spPr>
      </p:sp>
      <p:sp>
        <p:nvSpPr>
          <p:cNvPr id="35" name="Text 29"/>
          <p:cNvSpPr/>
          <p:nvPr/>
        </p:nvSpPr>
        <p:spPr>
          <a:xfrm>
            <a:off x="9038844" y="5175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9514332" y="5129784"/>
            <a:ext cx="209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controls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 •  SMART ENERGY MANAGEMENT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601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GridSense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71600" y="1874520"/>
            <a:ext cx="94484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D9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campus that predicts its energy, uses renewable power first,</a:t>
            </a:r>
            <a:endParaRPr lang="en-US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D9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pays less for the grid.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895448" y="3246120"/>
            <a:ext cx="1920240" cy="502920"/>
          </a:xfrm>
          <a:prstGeom prst="roundRect">
            <a:avLst>
              <a:gd name="adj" fmla="val 16364"/>
            </a:avLst>
          </a:prstGeom>
          <a:solidFill>
            <a:srgbClr val="2F9E5B"/>
          </a:solidFill>
          <a:ln/>
        </p:spPr>
      </p:sp>
      <p:sp>
        <p:nvSpPr>
          <p:cNvPr id="5" name="Text 3"/>
          <p:cNvSpPr/>
          <p:nvPr/>
        </p:nvSpPr>
        <p:spPr>
          <a:xfrm>
            <a:off x="2895448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35728" y="3246120"/>
            <a:ext cx="1920240" cy="502920"/>
          </a:xfrm>
          <a:prstGeom prst="roundRect">
            <a:avLst>
              <a:gd name="adj" fmla="val 16364"/>
            </a:avLst>
          </a:prstGeom>
          <a:solidFill>
            <a:srgbClr val="E8A63D"/>
          </a:solidFill>
          <a:ln/>
        </p:spPr>
      </p:sp>
      <p:sp>
        <p:nvSpPr>
          <p:cNvPr id="7" name="Text 5"/>
          <p:cNvSpPr/>
          <p:nvPr/>
        </p:nvSpPr>
        <p:spPr>
          <a:xfrm>
            <a:off x="5135728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76008" y="3246120"/>
            <a:ext cx="1920240" cy="502920"/>
          </a:xfrm>
          <a:prstGeom prst="roundRect">
            <a:avLst>
              <a:gd name="adj" fmla="val 16364"/>
            </a:avLst>
          </a:prstGeom>
          <a:solidFill>
            <a:srgbClr val="35618F"/>
          </a:solidFill>
          <a:ln/>
        </p:spPr>
      </p:sp>
      <p:sp>
        <p:nvSpPr>
          <p:cNvPr id="9" name="Text 7"/>
          <p:cNvSpPr/>
          <p:nvPr/>
        </p:nvSpPr>
        <p:spPr>
          <a:xfrm>
            <a:off x="7376008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4114800"/>
            <a:ext cx="9448495" cy="685800"/>
          </a:xfrm>
          <a:prstGeom prst="roundRect">
            <a:avLst>
              <a:gd name="adj" fmla="val 13333"/>
            </a:avLst>
          </a:prstGeom>
          <a:solidFill>
            <a:srgbClr val="123524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114800"/>
            <a:ext cx="94484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spc="50" kern="0" dirty="0">
                <a:solidFill>
                  <a:srgbClr val="E8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POWER  •  CLEAN ENERGY  •  REAL-TIME IMPACT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0" y="50749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 •  SMART ENERGY MANAGEMENT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2026-09-01T14:29:08Z</dcterms:created>
  <dcterms:modified xsi:type="dcterms:W3CDTF">2026-09-01T14:29:08Z</dcterms:modified>
</cp:coreProperties>
</file>